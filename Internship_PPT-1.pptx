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AI-Based Student Performance Prediction System</a:t>
            </a:r>
          </a:p>
          <a:p>
            <a:pPr>
              <a:spcAft>
                <a:spcPts val="1000"/>
              </a:spcAft>
              <a:defRPr sz="1900"/>
            </a:pPr>
            <a:r>
              <a:t>Reference / Mock Presentation</a:t>
            </a:r>
          </a:p>
          <a:p>
            <a:pPr>
              <a:spcAft>
                <a:spcPts val="1000"/>
              </a:spcAft>
              <a:defRPr sz="1900"/>
            </a:pPr>
            <a:r>
              <a:t>SACHIN | Roll No. 25SCS1003003494 | 3rd Semester | Section 2CSE_9</a:t>
            </a:r>
          </a:p>
          <a:p>
            <a:pPr>
              <a:spcAft>
                <a:spcPts val="1000"/>
              </a:spcAft>
              <a:defRPr sz="1900"/>
            </a:pPr>
            <a:r>
              <a:t>Batch 2025-29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organisation and scenario. Not an official internship record.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Organisation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NexaMind Technologies Pvt. Ltd. (fictional)</a:t>
            </a:r>
          </a:p>
          <a:p>
            <a:pPr>
              <a:spcAft>
                <a:spcPts val="1000"/>
              </a:spcAft>
              <a:defRPr sz="1900"/>
            </a:pPr>
            <a:r>
              <a:t>Hypothetical focus: AI/ML training and prototype development</a:t>
            </a:r>
          </a:p>
          <a:p>
            <a:pPr>
              <a:spcAft>
                <a:spcPts val="1000"/>
              </a:spcAft>
              <a:defRPr sz="1900"/>
            </a:pPr>
            <a:r>
              <a:t>Reference website: https://www.nexamind.example</a:t>
            </a:r>
          </a:p>
          <a:p>
            <a:pPr>
              <a:spcAft>
                <a:spcPts val="1000"/>
              </a:spcAft>
              <a:defRPr sz="1900"/>
            </a:pPr>
            <a:r>
              <a:t>The .example domain is reserved for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Goal: demonstrate an end-to-end supervised machine-learning workflow.</a:t>
            </a:r>
          </a:p>
          <a:p>
            <a:pPr>
              <a:spcAft>
                <a:spcPts val="1000"/>
              </a:spcAft>
              <a:defRPr sz="1900"/>
            </a:pPr>
            <a:r>
              <a:t>Input examples: attendance, assessments, assignments, study hours.</a:t>
            </a:r>
          </a:p>
          <a:p>
            <a:pPr>
              <a:spcAft>
                <a:spcPts val="1000"/>
              </a:spcAft>
              <a:defRPr sz="1900"/>
            </a:pPr>
            <a:r>
              <a:t>Output: indicative performance category.</a:t>
            </a:r>
          </a:p>
          <a:p>
            <a:pPr>
              <a:spcAft>
                <a:spcPts val="1000"/>
              </a:spcAft>
              <a:defRPr sz="1900"/>
            </a:pPr>
            <a:r>
              <a:t>Use case: educational prototype, not an automated grading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Academic indicators are often distributed across multiple records.</a:t>
            </a:r>
          </a:p>
          <a:p>
            <a:pPr>
              <a:spcAft>
                <a:spcPts val="1000"/>
              </a:spcAft>
              <a:defRPr sz="1900"/>
            </a:pPr>
            <a:r>
              <a:t>Manual analysis can be time-consuming.</a:t>
            </a:r>
          </a:p>
          <a:p>
            <a:pPr>
              <a:spcAft>
                <a:spcPts val="1000"/>
              </a:spcAft>
              <a:defRPr sz="1900"/>
            </a:pPr>
            <a:r>
              <a:t>A machine-learning prototype can identify patterns in historical data.</a:t>
            </a:r>
          </a:p>
          <a:p>
            <a:pPr>
              <a:spcAft>
                <a:spcPts val="1000"/>
              </a:spcAft>
              <a:defRPr sz="1900"/>
            </a:pPr>
            <a:r>
              <a:t>Predictions should support human review rather than replace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Learn the AI/ML development lifecycle.</a:t>
            </a:r>
          </a:p>
          <a:p>
            <a:pPr>
              <a:spcAft>
                <a:spcPts val="1000"/>
              </a:spcAft>
              <a:defRPr sz="1900"/>
            </a:pPr>
            <a:r>
              <a:t>Prepare and analyse structured data.</a:t>
            </a:r>
          </a:p>
          <a:p>
            <a:pPr>
              <a:spcAft>
                <a:spcPts val="1000"/>
              </a:spcAft>
              <a:defRPr sz="1900"/>
            </a:pPr>
            <a:r>
              <a:t>Train classification models.</a:t>
            </a:r>
          </a:p>
          <a:p>
            <a:pPr>
              <a:spcAft>
                <a:spcPts val="1000"/>
              </a:spcAft>
              <a:defRPr sz="1900"/>
            </a:pPr>
            <a:r>
              <a:t>Evaluate models using standard metrics.</a:t>
            </a:r>
          </a:p>
          <a:p>
            <a:pPr>
              <a:spcAft>
                <a:spcPts val="1000"/>
              </a:spcAft>
              <a:defRPr sz="1900"/>
            </a:pPr>
            <a:r>
              <a:t>Document limitations and ethical considerations.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Python</a:t>
            </a:r>
          </a:p>
          <a:p>
            <a:pPr>
              <a:spcAft>
                <a:spcPts val="1000"/>
              </a:spcAft>
              <a:defRPr sz="1900"/>
            </a:pPr>
            <a:r>
              <a:t>Pandas and NumPy</a:t>
            </a:r>
          </a:p>
          <a:p>
            <a:pPr>
              <a:spcAft>
                <a:spcPts val="1000"/>
              </a:spcAft>
              <a:defRPr sz="1900"/>
            </a:pPr>
            <a:r>
              <a:t>Scikit-learn</a:t>
            </a:r>
          </a:p>
          <a:p>
            <a:pPr>
              <a:spcAft>
                <a:spcPts val="1000"/>
              </a:spcAft>
              <a:defRPr sz="1900"/>
            </a:pPr>
            <a:r>
              <a:t>Matplotlib</a:t>
            </a:r>
          </a:p>
          <a:p>
            <a:pPr>
              <a:spcAft>
                <a:spcPts val="1000"/>
              </a:spcAft>
              <a:defRPr sz="1900"/>
            </a:pPr>
            <a:r>
              <a:t>Jupyter Notebook</a:t>
            </a:r>
          </a:p>
          <a:p>
            <a:pPr>
              <a:spcAft>
                <a:spcPts val="1000"/>
              </a:spcAft>
              <a:defRPr sz="1900"/>
            </a:pPr>
            <a:r>
              <a:t>Git and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Data Collection</a:t>
            </a:r>
          </a:p>
          <a:p>
            <a:pPr>
              <a:spcAft>
                <a:spcPts val="1000"/>
              </a:spcAft>
              <a:defRPr sz="1900"/>
            </a:pPr>
            <a:r>
              <a:t>↓</a:t>
            </a:r>
          </a:p>
          <a:p>
            <a:pPr>
              <a:spcAft>
                <a:spcPts val="1000"/>
              </a:spcAft>
              <a:defRPr sz="1900"/>
            </a:pPr>
            <a:r>
              <a:t>Cleaning → EDA → Feature Engineering</a:t>
            </a:r>
          </a:p>
          <a:p>
            <a:pPr>
              <a:spcAft>
                <a:spcPts val="1000"/>
              </a:spcAft>
              <a:defRPr sz="1900"/>
            </a:pPr>
            <a:r>
              <a:t>↓</a:t>
            </a:r>
          </a:p>
          <a:p>
            <a:pPr>
              <a:spcAft>
                <a:spcPts val="1000"/>
              </a:spcAft>
              <a:defRPr sz="1900"/>
            </a:pPr>
            <a:r>
              <a:t>Train/Test Split → Model Training</a:t>
            </a:r>
          </a:p>
          <a:p>
            <a:pPr>
              <a:spcAft>
                <a:spcPts val="1000"/>
              </a:spcAft>
              <a:defRPr sz="1900"/>
            </a:pPr>
            <a:r>
              <a:t>↓</a:t>
            </a:r>
          </a:p>
          <a:p>
            <a:pPr>
              <a:spcAft>
                <a:spcPts val="1000"/>
              </a:spcAft>
              <a:defRPr sz="1900"/>
            </a:pPr>
            <a:r>
              <a:t>Evaluation → Prediction →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Inspect and clean data</a:t>
            </a:r>
          </a:p>
          <a:p>
            <a:pPr>
              <a:spcAft>
                <a:spcPts val="1000"/>
              </a:spcAft>
              <a:defRPr sz="1900"/>
            </a:pPr>
            <a:r>
              <a:t>2. Explore distributions and relationships</a:t>
            </a:r>
          </a:p>
          <a:p>
            <a:pPr>
              <a:spcAft>
                <a:spcPts val="1000"/>
              </a:spcAft>
              <a:defRPr sz="1900"/>
            </a:pPr>
            <a:r>
              <a:t>3. Engineer and select features</a:t>
            </a:r>
          </a:p>
          <a:p>
            <a:pPr>
              <a:spcAft>
                <a:spcPts val="1000"/>
              </a:spcAft>
              <a:defRPr sz="1900"/>
            </a:pPr>
            <a:r>
              <a:t>4. Train baseline classifiers</a:t>
            </a:r>
          </a:p>
          <a:p>
            <a:pPr>
              <a:spcAft>
                <a:spcPts val="1000"/>
              </a:spcAft>
              <a:defRPr sz="1900"/>
            </a:pPr>
            <a:r>
              <a:t>5. Compare accuracy, precision, recall and F1-score</a:t>
            </a:r>
          </a:p>
          <a:p>
            <a:pPr>
              <a:spcAft>
                <a:spcPts val="1000"/>
              </a:spcAft>
              <a:defRPr sz="1900"/>
            </a:pPr>
            <a:r>
              <a:t>6. Interpret results and document limitations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 reproducible ML pipeline.</a:t>
            </a:r>
          </a:p>
          <a:p>
            <a:pPr>
              <a:spcAft>
                <a:spcPts val="1000"/>
              </a:spcAft>
              <a:defRPr sz="1900"/>
            </a:pPr>
            <a:r>
              <a:t>Clear evaluation results.</a:t>
            </a:r>
          </a:p>
          <a:p>
            <a:pPr>
              <a:spcAft>
                <a:spcPts val="1000"/>
              </a:spcAft>
              <a:defRPr sz="1900"/>
            </a:pPr>
            <a:r>
              <a:t>Visual analysis of important patterns.</a:t>
            </a:r>
          </a:p>
          <a:p>
            <a:pPr>
              <a:spcAft>
                <a:spcPts val="1000"/>
              </a:spcAft>
              <a:defRPr sz="1900"/>
            </a:pPr>
            <a:r>
              <a:t>A simple prediction workflow.</a:t>
            </a:r>
          </a:p>
          <a:p>
            <a:pPr>
              <a:spcAft>
                <a:spcPts val="1000"/>
              </a:spcAft>
              <a:defRPr sz="1900"/>
            </a:pPr>
            <a:r>
              <a:t>Better understanding of practical AI/ML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Small or biased datasets can produce misleading predictions.</a:t>
            </a:r>
          </a:p>
          <a:p>
            <a:pPr>
              <a:spcAft>
                <a:spcPts val="1000"/>
              </a:spcAft>
              <a:defRPr sz="1900"/>
            </a:pPr>
            <a:r>
              <a:t>Predictions may not generalise to other student populations.</a:t>
            </a:r>
          </a:p>
          <a:p>
            <a:pPr>
              <a:spcAft>
                <a:spcPts val="1000"/>
              </a:spcAft>
              <a:defRPr sz="1900"/>
            </a:pPr>
            <a:r>
              <a:t>Student data requires privacy and responsible handling.</a:t>
            </a:r>
          </a:p>
          <a:p>
            <a:pPr>
              <a:spcAft>
                <a:spcPts val="1000"/>
              </a:spcAft>
              <a:defRPr sz="1900"/>
            </a:pPr>
            <a:r>
              <a:t>High-impact academic decisions should not rely solely on automated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project demonstrates a complete introductory AI/ML workflow.</a:t>
            </a:r>
          </a:p>
          <a:p>
            <a:pPr>
              <a:spcAft>
                <a:spcPts val="1000"/>
              </a:spcAft>
              <a:defRPr sz="1900"/>
            </a:pPr>
            <a:r>
              <a:t>The emphasis is on learning, reproducibility and responsible use.</a:t>
            </a:r>
          </a:p>
          <a:p>
            <a:pPr>
              <a:spcAft>
                <a:spcPts val="1000"/>
              </a:spcAft>
              <a:defRPr sz="1900"/>
            </a:pPr>
            <a:r>
              <a:t>Future work: larger datasets, cross-validation, explainability, monitoring and secure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Pedregosa et al. (2011), Scikit-learn, JMLR.</a:t>
            </a:r>
          </a:p>
          <a:p>
            <a:pPr>
              <a:spcAft>
                <a:spcPts val="1000"/>
              </a:spcAft>
              <a:defRPr sz="1900"/>
            </a:pPr>
            <a:r>
              <a:t>McKinney (2010), Pandas/data structures for statistical computing.</a:t>
            </a:r>
          </a:p>
          <a:p>
            <a:pPr>
              <a:spcAft>
                <a:spcPts val="1000"/>
              </a:spcAft>
              <a:defRPr sz="1900"/>
            </a:pPr>
            <a:r>
              <a:t>Harris et al. (2020), NumPy, Nature.</a:t>
            </a:r>
          </a:p>
          <a:p>
            <a:pPr>
              <a:spcAft>
                <a:spcPts val="1000"/>
              </a:spcAft>
              <a:defRPr sz="1900"/>
            </a:pPr>
            <a:r>
              <a:t>Python Documentation.</a:t>
            </a:r>
          </a:p>
          <a:p>
            <a:pPr>
              <a:spcAft>
                <a:spcPts val="1000"/>
              </a:spcAft>
              <a:defRPr sz="1900"/>
            </a:pPr>
            <a:r>
              <a:t>GitHub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